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Play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iCSSItwtXEcjHKf72LF0fQ6k6NN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elri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C6E2D3-67D4-47E5-9DA5-2557D07C72D4}">
  <a:tblStyle styleId="{EBC6E2D3-67D4-47E5-9DA5-2557D07C72D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-bold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Play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0-11T21:26:28.547">
    <p:pos x="10" y="10"/>
    <p:text/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sDuxb8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5d4d3fc6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85d4d3fc66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5d4d3fc6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85d4d3fc66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d4d3fc6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85d4d3fc66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c9562f8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8c9562f839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d4d3fc6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85d4d3fc66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5d4d3fc6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85d4d3fc66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5fe98b0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85fe98b05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5fe98b05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85fe98b055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fe98b05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85fe98b055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5fe98b05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85fe98b055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5fe98b05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85fe98b055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5fe98b05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85fe98b055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5d4d3fc6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385d4d3fc66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.xml"/><Relationship Id="rId4" Type="http://schemas.openxmlformats.org/officeDocument/2006/relationships/image" Target="../media/image3.jpg"/><Relationship Id="rId5" Type="http://schemas.openxmlformats.org/officeDocument/2006/relationships/image" Target="../media/image2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10.gif"/><Relationship Id="rId7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Relationship Id="rId4" Type="http://schemas.openxmlformats.org/officeDocument/2006/relationships/image" Target="../media/image16.jpg"/><Relationship Id="rId5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Relationship Id="rId4" Type="http://schemas.openxmlformats.org/officeDocument/2006/relationships/image" Target="../media/image1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Relationship Id="rId4" Type="http://schemas.openxmlformats.org/officeDocument/2006/relationships/image" Target="../media/image18.png"/><Relationship Id="rId5" Type="http://schemas.openxmlformats.org/officeDocument/2006/relationships/image" Target="../media/image2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type="ctrTitle"/>
          </p:nvPr>
        </p:nvSpPr>
        <p:spPr>
          <a:xfrm>
            <a:off x="1524000" y="2156083"/>
            <a:ext cx="9144000" cy="13125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pt-BR" sz="4400">
                <a:latin typeface="Calibri"/>
                <a:ea typeface="Calibri"/>
                <a:cs typeface="Calibri"/>
                <a:sym typeface="Calibri"/>
              </a:rPr>
              <a:t>Evolução dos Sistemas Operacionais</a:t>
            </a:r>
            <a:endParaRPr b="1" sz="4400"/>
          </a:p>
        </p:txBody>
      </p:sp>
      <p:sp>
        <p:nvSpPr>
          <p:cNvPr id="79" name="Google Shape;79;p1"/>
          <p:cNvSpPr txBox="1"/>
          <p:nvPr>
            <p:ph idx="1" type="subTitle"/>
          </p:nvPr>
        </p:nvSpPr>
        <p:spPr>
          <a:xfrm>
            <a:off x="1437000" y="4174480"/>
            <a:ext cx="9144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Autores: Evandro, Gabriel, Melrik, Tiago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838200" y="128428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838200" y="2344726"/>
            <a:ext cx="95631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Os sistemas operacionais (SO) são essenciais para o funcionamento dos computadores.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Eles surgiram para facilitar a interação entre o hardware e o usuário, automatizando tarefas e otimizando recursos.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Esta apresentação aborda o conceito de SO e a evolução desde a primeira geração de computadores.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5d4d3fc66_0_2"/>
          <p:cNvSpPr txBox="1"/>
          <p:nvPr/>
        </p:nvSpPr>
        <p:spPr>
          <a:xfrm>
            <a:off x="838200" y="1284288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um Sistema Operacional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1" name="Google Shape;91;g385d4d3fc66_0_2"/>
          <p:cNvSpPr txBox="1"/>
          <p:nvPr/>
        </p:nvSpPr>
        <p:spPr>
          <a:xfrm>
            <a:off x="838200" y="2344718"/>
            <a:ext cx="95631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Software que gerencia os recursos do computador.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Atua como intermediário entre o hardware e os programas.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Controla processos, memória, entrada/saída e armazenamento.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Permite o uso eficiente, seguro e organizado do sistema.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g385d4d3fc66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7325" y="764275"/>
            <a:ext cx="3366574" cy="23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5d4d3fc66_0_7"/>
          <p:cNvSpPr txBox="1"/>
          <p:nvPr/>
        </p:nvSpPr>
        <p:spPr>
          <a:xfrm>
            <a:off x="838200" y="1284288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 do Sistema Operacional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8" name="Google Shape;98;g385d4d3fc66_0_7"/>
          <p:cNvSpPr txBox="1"/>
          <p:nvPr/>
        </p:nvSpPr>
        <p:spPr>
          <a:xfrm>
            <a:off x="838200" y="2344720"/>
            <a:ext cx="95631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Gerenciar processos e memória do sistema.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Controlar dispositivos de entrada e saída.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Administrar arquivos e armazenamento.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Prover interface com o usuário e garantir segurança.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Coordenar o uso dos recursos de hardware.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g385d4d3fc66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9925" y="2804100"/>
            <a:ext cx="4985951" cy="14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5d4d3fc66_0_12"/>
          <p:cNvSpPr txBox="1"/>
          <p:nvPr/>
        </p:nvSpPr>
        <p:spPr>
          <a:xfrm>
            <a:off x="838200" y="1284300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 </a:t>
            </a: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- Computadores Mecânicos(1642 - 1945)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85d4d3fc66_0_12"/>
          <p:cNvSpPr txBox="1"/>
          <p:nvPr/>
        </p:nvSpPr>
        <p:spPr>
          <a:xfrm>
            <a:off x="473650" y="2344725"/>
            <a:ext cx="107010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7552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588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BLAISE PASCAL -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Construção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da primeira máquina de calcular, baseada em engrenagens, que permitia fazer adições e subtrações, no ano de 1942. 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552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588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LEIBNIZ - Construiu uma máquina no mesmo estilo, que permitia também contas de multiplicação e divisão.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552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588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CHARLES BABBAGE - criador da Máquina Diferencial e também da Máquina Analitica.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552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588"/>
              <a:buFont typeface="Arial"/>
              <a:buChar char="•"/>
            </a:pPr>
            <a:r>
              <a:t/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g385d4d3fc66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3550" y="4549250"/>
            <a:ext cx="3222474" cy="230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c9562f839_0_5"/>
          <p:cNvSpPr txBox="1"/>
          <p:nvPr/>
        </p:nvSpPr>
        <p:spPr>
          <a:xfrm>
            <a:off x="838200" y="1284300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Primeira Geração de </a:t>
            </a: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Operacionais</a:t>
            </a: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(1940–1959)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8c9562f839_0_5"/>
          <p:cNvSpPr txBox="1"/>
          <p:nvPr/>
        </p:nvSpPr>
        <p:spPr>
          <a:xfrm>
            <a:off x="838200" y="2344720"/>
            <a:ext cx="95631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899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Computadores baseados em válvulas e relés.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99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Programação feita em linguagem de máquina.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99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Entrada e saída via cartões perfurados.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99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Não existiam sistemas operacionais modernos.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99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ct val="117646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Operação manual e alto consumo de energia.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g38c9562f839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1668" y="2344724"/>
            <a:ext cx="3836882" cy="33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d4d3fc66_0_17"/>
          <p:cNvSpPr txBox="1"/>
          <p:nvPr/>
        </p:nvSpPr>
        <p:spPr>
          <a:xfrm>
            <a:off x="838200" y="1284300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Técnicas da Primeira Geração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85d4d3fc66_0_17"/>
          <p:cNvSpPr txBox="1"/>
          <p:nvPr/>
        </p:nvSpPr>
        <p:spPr>
          <a:xfrm>
            <a:off x="579900" y="2344725"/>
            <a:ext cx="9821400" cy="4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Programas carregados manualmente por operadores.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Processamento sequencial — uma tarefa por vez.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Falta de padronização de hardware e software.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Computadores de grande porte e alto custo.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Armazenamento em fitas magnéticas e cartões.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385d4d3fc66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2275" y="3219199"/>
            <a:ext cx="3736876" cy="27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d4d3fc66_0_22"/>
          <p:cNvSpPr txBox="1"/>
          <p:nvPr/>
        </p:nvSpPr>
        <p:spPr>
          <a:xfrm>
            <a:off x="838200" y="1284300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Início dos Sistemas Operacionais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85d4d3fc66_0_22"/>
          <p:cNvSpPr txBox="1"/>
          <p:nvPr/>
        </p:nvSpPr>
        <p:spPr>
          <a:xfrm>
            <a:off x="838200" y="2344725"/>
            <a:ext cx="10285500" cy="4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Primeiras tentativas de automação com monitores e controladores.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Exemplo pioneiro: GM-NAA I/O, desenvolvido pela General Motors para o IBM 704.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Automatizar operações de entrada e saída (I/O).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Marcou o início dos sistemas batch e multiprogramação.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/>
        </p:nvSpPr>
        <p:spPr>
          <a:xfrm>
            <a:off x="3461478" y="210684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Segunda Geração (1949-1965)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883170" y="969923"/>
            <a:ext cx="10285500" cy="126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Revolução do Transistor e os Primeiros SOs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883170" y="2101546"/>
            <a:ext cx="10285500" cy="4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Transistores e Confiabilidade;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Memórias e Dados;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Ascensão das Linguagens de Alto Nível;	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 Gênese do Sistema Operacional;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/>
        </p:nvSpPr>
        <p:spPr>
          <a:xfrm>
            <a:off x="770916" y="1747050"/>
            <a:ext cx="4977984" cy="4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2487118" y="127425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Válvula vs. </a:t>
            </a:r>
            <a:r>
              <a:rPr b="1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Transistor</a:t>
            </a: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(As Vantagens)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770916" y="1372501"/>
            <a:ext cx="6544285" cy="4653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Pequeno (cerca de 100 vezes menor)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 rápido (microssegundo)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Baixa temperatura (menor dissipação de calor)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Baixo consumo de energia 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Alta durabilidade e confiabilidade 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 barato</a:t>
            </a:r>
            <a:endParaRPr/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3102" y="1747050"/>
            <a:ext cx="4136470" cy="3153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838200" y="1284300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38200" y="2344725"/>
            <a:ext cx="10285500" cy="4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1560054" y="223875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Salto para o Armazenamento Magnético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838200" y="1460700"/>
            <a:ext cx="10285500" cy="4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Memória de Núcleo Magnético: mais rápida e muito mais confiável que as válvulas/memórias da 1ª Geração.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Padrão: Uso massivo de Fitas Magnéticas para guardar programas e grandes volumes de dados (acesso sequencial).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Surgimento dos primeiros Discos Magnéticos </a:t>
            </a:r>
            <a:endParaRPr/>
          </a:p>
          <a:p>
            <a:pPr indent="-2032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/>
        </p:nvSpPr>
        <p:spPr>
          <a:xfrm>
            <a:off x="1302300" y="223875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Linguagens de Programação: O salto na produtividade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209862" y="1685552"/>
            <a:ext cx="11982138" cy="4310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FORTRAN (FORmula TRANslation) – 1957: A primeira linguagem de alto nível largamente usada.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	Projetada para cálculos científicos e engenharia.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COBOL (COmmon Business-Oriented Language) – 1959.</a:t>
            </a:r>
            <a:endParaRPr/>
          </a:p>
          <a:p>
            <a:pPr indent="0" lvl="2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	Projetada para aplicações de negócios e processamento de dados comerciais.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/>
        </p:nvSpPr>
        <p:spPr>
          <a:xfrm>
            <a:off x="2218543" y="400275"/>
            <a:ext cx="9608695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Gênese do Sistema Operacional: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Processamento em Lote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209862" y="1685552"/>
            <a:ext cx="11982138" cy="4310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Ociosidade Cara:  tempo esperando o operador carregar o próximo trabalho ou o I/O lento.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Processamento em Lote: execução de uma sequência de trabalhos (jobs) agrupados em um lote.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Workflow:  todos os programas que precisavam dos mesmos recursos e os submetia de uma vez.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 Monitor de Lote.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Técnicas de Otimização I/O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ic consoles of the IBM System/360 mainframes, 55 years old" id="166" name="Google Shape;1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9064" y="2381076"/>
            <a:ext cx="2935660" cy="257503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306354" y="86442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Terceira Geração de SOs (1965-1980)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306354" y="2078046"/>
            <a:ext cx="8262710" cy="3915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Surgimento com os mainframes de terceira geração (ex: IBM System/360).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circuitos integrados (CI), tornando os computadores mais rápidos, menores e confiáveis.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Necessidade de gerenciar recursos de forma eficiente → nascimento de SOs mais sofisticados.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9180697" y="4920588"/>
            <a:ext cx="18941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(IBM System/360)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/>
        </p:nvSpPr>
        <p:spPr>
          <a:xfrm>
            <a:off x="679579" y="967059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Características da Terceira Geração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838200" y="2344725"/>
            <a:ext cx="10285500" cy="4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Multiprogramação (CPU);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Time-sharing (Prioridade no tempo de resposta);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Sistemas operacionais modulares;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Spooling. 	</a:t>
            </a:r>
            <a:endParaRPr b="0" i="0" sz="18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4134" y="2146726"/>
            <a:ext cx="4323020" cy="1040418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me Sharing Operating System - Scaler Topics" id="177" name="Google Shape;177;p22"/>
          <p:cNvSpPr/>
          <p:nvPr/>
        </p:nvSpPr>
        <p:spPr>
          <a:xfrm>
            <a:off x="5943599" y="3276599"/>
            <a:ext cx="1660849" cy="1660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4023" y="3385143"/>
            <a:ext cx="3442997" cy="1908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ooling in Cybersecurity: Learn the Basics | CCS Learning Academy" id="179" name="Google Shape;17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6121" y="4401225"/>
            <a:ext cx="3419140" cy="23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de Sistemas Operacionais da Terceira Geração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632926" y="2320028"/>
            <a:ext cx="8958944" cy="3371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9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OS/360 (IBM);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9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Multics;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9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UNIX: base para muitos SOs modernos (Linux, macOS);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19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CP/M (1974).</a:t>
            </a:r>
            <a:endParaRPr b="0" i="0" sz="19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3076" y="1792547"/>
            <a:ext cx="1628192" cy="1628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ultics" id="187" name="Google Shape;18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0670" y="3420739"/>
            <a:ext cx="2118389" cy="1785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P/M-86 – Wikipédia, a enciclopédia livre" id="188" name="Google Shape;18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7803" y="4949112"/>
            <a:ext cx="2752531" cy="1720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fe98b055_0_0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Quarta Geração de SOs (1980 - 2000)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85fe98b055_0_0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Arial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Início na década de 1980, com o surgimento dos microprocessadores poderosos.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Arial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Expansão dos computadores pessoais (PCs).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Arial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Popularização das interfaces gráficas (GUI) e do uso em rede.</a:t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Início da era da internet e da computação distribuída.</a:t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5fe98b055_0_9"/>
          <p:cNvSpPr txBox="1"/>
          <p:nvPr/>
        </p:nvSpPr>
        <p:spPr>
          <a:xfrm>
            <a:off x="313159" y="45322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Características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85fe98b055_0_9"/>
          <p:cNvSpPr txBox="1"/>
          <p:nvPr/>
        </p:nvSpPr>
        <p:spPr>
          <a:xfrm>
            <a:off x="603950" y="1378725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Introdução do multitarefa real e multiprocessamento: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Suporte a interfaces gráficas de usuário (GUI).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Conectividade em rede (LAN, WAN, Internet).</a:t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Sistemas distribuídos Maior segurança e controle de acesso.</a:t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Suporte a diversas arquiteturas</a:t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5fe98b055_0_31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Avanços Tecnológicos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85fe98b055_0_31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Interface gráfica (GUI): ícones, janelas e menus substituem linhas de comando(WIMP).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Multitarefas: Cooperativa e Preemptiva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Plug and Play: reconhecimento automático de hardware.</a:t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Suporte multimídia (áudio, vídeo e gráficos).</a:t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5fe98b055_0_14"/>
          <p:cNvSpPr txBox="1"/>
          <p:nvPr/>
        </p:nvSpPr>
        <p:spPr>
          <a:xfrm>
            <a:off x="273338" y="488400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de Sistemas Operacionais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85fe98b055_0_14"/>
          <p:cNvSpPr txBox="1"/>
          <p:nvPr/>
        </p:nvSpPr>
        <p:spPr>
          <a:xfrm>
            <a:off x="602158" y="149340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MS-DOS (Microsoft Disk Operating System, 1981)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Mac OS (Originalmente System, 1984)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Microsoft Windows 3.1 (1992)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Microsoft Windows 95 (1995)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Windows NT (New Technology, 1993)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UNIX (continuação)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Linux (1991)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/>
        </p:nvSpPr>
        <p:spPr>
          <a:xfrm>
            <a:off x="255231" y="-38773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de Sistemas Operacionais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indows 3.1 - Wikiwand" id="218" name="Google Shape;2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1440" y="947728"/>
            <a:ext cx="2772718" cy="207533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/>
        </p:nvSpPr>
        <p:spPr>
          <a:xfrm>
            <a:off x="7627658" y="3096390"/>
            <a:ext cx="13099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Windowns 3.1</a:t>
            </a:r>
            <a:endParaRPr/>
          </a:p>
        </p:txBody>
      </p:sp>
      <p:pic>
        <p:nvPicPr>
          <p:cNvPr id="220" name="Google Shape;22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7744" y="1056757"/>
            <a:ext cx="3651628" cy="19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2458455" y="3042027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MS-DOS</a:t>
            </a:r>
            <a:endParaRPr/>
          </a:p>
        </p:txBody>
      </p:sp>
      <p:pic>
        <p:nvPicPr>
          <p:cNvPr descr="História da Computação | PETNews - Breve resumo da história do Mac OS -  Sistema operacional dos computadores Macintosh" id="222" name="Google Shape;22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5159" y="3456865"/>
            <a:ext cx="2596797" cy="1736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erial Didático - IMD" id="223" name="Google Shape;22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18394" y="3582888"/>
            <a:ext cx="2478810" cy="185910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 txBox="1"/>
          <p:nvPr/>
        </p:nvSpPr>
        <p:spPr>
          <a:xfrm>
            <a:off x="7627658" y="5568019"/>
            <a:ext cx="126028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Windowns 95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2433253" y="5316754"/>
            <a:ext cx="1130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 OS 1.0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5fe98b055_0_42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85fe98b055_0_42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85fe98b055_0_42"/>
          <p:cNvSpPr txBox="1"/>
          <p:nvPr/>
        </p:nvSpPr>
        <p:spPr>
          <a:xfrm>
            <a:off x="498166" y="553833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Quinta Geração de SOs (2000 – Dias atuais)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85fe98b055_0_42"/>
          <p:cNvSpPr txBox="1"/>
          <p:nvPr/>
        </p:nvSpPr>
        <p:spPr>
          <a:xfrm>
            <a:off x="776966" y="1325446"/>
            <a:ext cx="11087375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Arial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Explosão da Internet e a demanda por conectividade constante e ubíqua.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Arial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Processadores Multi-core e avanço na arquitetura de hardware.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Arial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Miniaturização, eficiência energética e aumento da capacidade de armazenamento (Flash/SSD).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Arial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Revolução da computação móvel com Smartphones e Tablets.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Arial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Ascensão da virtualização e da computação em nuvem como paradigmas dominantes.</a:t>
            </a:r>
            <a:endParaRPr/>
          </a:p>
          <a:p>
            <a:pPr indent="-19685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313159" y="45322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603950" y="1378725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Processadores Multi-core: Para paralelismo e multitarefa real.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Memória Flash (SSDs): Velocidade e durabilidade.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Conectividade Sem Fio Avançada: Wi-Fi, 3G/4G/5G, Bluetooth.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Telas Sensíveis ao Toque: Principal interface para dispositivos móveis.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Sensores Integrados: GPS, acelerômetros, giroscópios, câmeras.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327659" y="565411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Operacionais Móveis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567737" y="1493400"/>
            <a:ext cx="10976838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Foco Principal: Interface de toque intuitiva, eficiência energética extrema, conectividade constante.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Lojas de Aplicativos (App Stores): Ecossistemas para distribuição, instalação e monetização de software.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Gerenciamento de Sensores: Integração com recursos de hardware do dispositivo.</a:t>
            </a:r>
            <a:endParaRPr/>
          </a:p>
        </p:txBody>
      </p:sp>
      <p:pic>
        <p:nvPicPr>
          <p:cNvPr descr="App Store vs. Google Play Store | Uxcel" id="250" name="Google Shape;25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000" y="3761337"/>
            <a:ext cx="1825782" cy="1141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647425" y="5178019"/>
            <a:ext cx="1763488" cy="427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327659" y="565411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567737" y="1493400"/>
            <a:ext cx="10976838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iOS (Apple, 2007): Precursor da interface moderna de smartphones, alta integração hardware-software, segurança.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Android (Google, 2008): Baseado no kernel Linux, flexível, código aberto, dominante globalmente em número de dispositivos.</a:t>
            </a:r>
            <a:endParaRPr/>
          </a:p>
        </p:txBody>
      </p:sp>
      <p:pic>
        <p:nvPicPr>
          <p:cNvPr descr="iOS definition | Uxcel" id="259" name="Google Shape;25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574" y="4537581"/>
            <a:ext cx="2878293" cy="175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6560" y="4806621"/>
            <a:ext cx="1072600" cy="1259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327659" y="565411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Virtualização (VMs)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/>
        </p:nvSpPr>
        <p:spPr>
          <a:xfrm>
            <a:off x="567737" y="1493400"/>
            <a:ext cx="10976838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Conceito: A abstração do hardware, permitindo a execução de múltiplas Máquinas Virtuais (VMs) isoladas sobre um único servidor físico (via Hipervisor).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Benefícios: Otimização de recursos, isolamento, escalabilidade e resiliência de serviços.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Fundamento: Pilar para a arquitetura de nuvem.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327659" y="565411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Computação em Nuvem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567737" y="1493400"/>
            <a:ext cx="11296604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Conceito: Entrega de recursos computacionais (servidores, armazenamento, software) como um serviço pela internet.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Impacto no SO: SOs de servidor (principalmente Linux e Windows Server) otimizados para:</a:t>
            </a:r>
            <a:endParaRPr/>
          </a:p>
          <a:p>
            <a:pPr indent="-342900" lvl="1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Escalabilidade Horizontal: Adicionar ou remover recursos sob demanda.</a:t>
            </a:r>
            <a:endParaRPr/>
          </a:p>
          <a:p>
            <a:pPr indent="-342900" lvl="1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Automação: Gerenciamento e provisionamento automatizado de infraestrutura.</a:t>
            </a:r>
            <a:endParaRPr/>
          </a:p>
          <a:p>
            <a:pPr indent="-342900" lvl="1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Resiliência: Tolerância a falhas e recuperação de desastres.</a:t>
            </a:r>
            <a:endParaRPr/>
          </a:p>
        </p:txBody>
      </p:sp>
      <p:pic>
        <p:nvPicPr>
          <p:cNvPr descr="Você sabe o que é Computação em Nuvem? | SOC" id="277" name="Google Shape;27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481" y="20294"/>
            <a:ext cx="2468579" cy="1851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327659" y="565411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Inovações e Foco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813915" y="1871672"/>
            <a:ext cx="11296604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Segurança Avançada e Privacidade.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Integração de Inteligência Artificial (IA) e Assistentes de Voz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SO como Serviço (OS-as-a-Service)</a:t>
            </a:r>
            <a:endParaRPr/>
          </a:p>
        </p:txBody>
      </p:sp>
      <p:pic>
        <p:nvPicPr>
          <p:cNvPr id="286" name="Google Shape;28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2462" y="3889427"/>
            <a:ext cx="1710554" cy="1509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tores de Inteligencia artificial png - Baixe vetores grátis de alta  qualidade do Freepik | Freepik" id="287" name="Google Shape;28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1003" y="3759775"/>
            <a:ext cx="1925856" cy="1639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3429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327659" y="565411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Operacionais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434566" y="1493400"/>
            <a:ext cx="11639739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Microsoft Windows (XP, Vista, 7, 8, 10, 11): Continua dominante, com foco em segurança, nuvem e experiência de usuário fluida.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macOS (a partir de 2001): Baseado em UNIX, oferece uma experiência coesa, intuitiva e segura, integrada ao ecossistema Apple.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GNU/Linux e Suas Distribuições: Onipresente em servidores, infraestrutura de nuvem, supercomputadores e IoT.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3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Chrome OS (Google, 2011): SO leve, baseado em Linux e navegador, focado em computação em nuvem (Chromebooks).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85fe98b055_0_37"/>
          <p:cNvSpPr txBox="1"/>
          <p:nvPr/>
        </p:nvSpPr>
        <p:spPr>
          <a:xfrm>
            <a:off x="327659" y="946172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Comparação com as Gerações Anteriores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85fe98b055_0_37"/>
          <p:cNvSpPr txBox="1"/>
          <p:nvPr/>
        </p:nvSpPr>
        <p:spPr>
          <a:xfrm>
            <a:off x="647425" y="2035650"/>
            <a:ext cx="10142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2" name="Google Shape;302;g385fe98b055_0_37"/>
          <p:cNvGraphicFramePr/>
          <p:nvPr/>
        </p:nvGraphicFramePr>
        <p:xfrm>
          <a:off x="327659" y="203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{EBC6E2D3-67D4-47E5-9DA5-2557D07C72D4}</a:tableStyleId>
              </a:tblPr>
              <a:tblGrid>
                <a:gridCol w="3688850"/>
                <a:gridCol w="3688850"/>
                <a:gridCol w="3688850"/>
              </a:tblGrid>
              <a:tr h="58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highlight>
                            <a:schemeClr val="lt2"/>
                          </a:highlight>
                        </a:rPr>
                        <a:t>Geração</a:t>
                      </a:r>
                      <a:endParaRPr b="1" sz="1800" u="none" cap="none" strike="noStrike">
                        <a:highlight>
                          <a:schemeClr val="lt2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highlight>
                            <a:schemeClr val="lt2"/>
                          </a:highlight>
                        </a:rPr>
                        <a:t>Período</a:t>
                      </a:r>
                      <a:endParaRPr b="1" sz="1800" u="none" cap="none" strike="noStrike">
                        <a:highlight>
                          <a:schemeClr val="lt2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highlight>
                            <a:schemeClr val="lt2"/>
                          </a:highlight>
                        </a:rPr>
                        <a:t>Destaque</a:t>
                      </a:r>
                      <a:endParaRPr b="1" sz="1800" u="none" cap="none" strike="noStrike">
                        <a:highlight>
                          <a:schemeClr val="lt2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58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1ª (1940–1950)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Válvulas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Execução simples e manual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</a:tr>
              <a:tr h="58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2ª (1955–1965)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Transistores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Lotes e linguagens de alto nível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</a:tr>
              <a:tr h="58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3ª (1965–1980)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Circuitos integrados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Multiprogramação e tempo compartilhado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</a:tr>
              <a:tr h="58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4ª (1980–2000)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Microprocessadores e redes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GUI e Internet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</a:tr>
              <a:tr h="58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5ª (2000–Dias atuais)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Computação móvel e em nuvem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Mobilidade e nuvem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5d4d3fc66_0_27"/>
          <p:cNvSpPr txBox="1"/>
          <p:nvPr/>
        </p:nvSpPr>
        <p:spPr>
          <a:xfrm>
            <a:off x="838200" y="1284300"/>
            <a:ext cx="982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 Bibliográficas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85d4d3fc66_0_27"/>
          <p:cNvSpPr txBox="1"/>
          <p:nvPr/>
        </p:nvSpPr>
        <p:spPr>
          <a:xfrm>
            <a:off x="838200" y="2344725"/>
            <a:ext cx="9705300" cy="4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Sistemas24Horas. Aula 02A – Introdução aos Sistemas Operacionais.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PUC Goiás. Histórico e Evolução dos Sistemas Operacionais.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Rodrigues, Ryan Silva. Repositório Cogna (2021).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Benejsan (2023). História dos Sistemas Operacionais.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VelhoBit. Sistemas Operacionais – Parte 1: História.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TecMundo. A História dos Sistemas Operacionais.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IFSC – Alex Forghieri. História dos Sistemas Operacionais (2016).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Calibri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Tanenbaum, A. S. Modern Operating Systems.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Calibri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Silberschatz, A., Galvin, P. Fundamentos de Sistemas Operacionais.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digo QR&#10;&#10;Descrição gerada automaticamente" id="313" name="Google Shape;3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4870" y="1251282"/>
            <a:ext cx="1957242" cy="217972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"/>
          <p:cNvSpPr txBox="1"/>
          <p:nvPr/>
        </p:nvSpPr>
        <p:spPr>
          <a:xfrm>
            <a:off x="3583253" y="3947815"/>
            <a:ext cx="5022433" cy="303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Departamento/servidor@utfpr.edu.br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" name="Google Shape;315;p5"/>
          <p:cNvGrpSpPr/>
          <p:nvPr/>
        </p:nvGrpSpPr>
        <p:grpSpPr>
          <a:xfrm>
            <a:off x="2821255" y="4956068"/>
            <a:ext cx="6548338" cy="1487783"/>
            <a:chOff x="3212281" y="4956068"/>
            <a:chExt cx="6548338" cy="1487783"/>
          </a:xfrm>
        </p:grpSpPr>
        <p:sp>
          <p:nvSpPr>
            <p:cNvPr id="316" name="Google Shape;316;p5"/>
            <p:cNvSpPr txBox="1"/>
            <p:nvPr/>
          </p:nvSpPr>
          <p:spPr>
            <a:xfrm>
              <a:off x="3212281" y="5326434"/>
              <a:ext cx="3368091" cy="995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529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212529"/>
                  </a:solidFill>
                  <a:latin typeface="Calibri"/>
                  <a:ea typeface="Calibri"/>
                  <a:cs typeface="Calibri"/>
                  <a:sym typeface="Calibri"/>
                </a:rPr>
                <a:t>Av. Sete de Setembro, 3165 Rebouças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212529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212529"/>
                  </a:solidFill>
                  <a:latin typeface="Calibri"/>
                  <a:ea typeface="Calibri"/>
                  <a:cs typeface="Calibri"/>
                  <a:sym typeface="Calibri"/>
                </a:rPr>
                <a:t>80230-901 Curitiba PR Brasil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212529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212529"/>
                  </a:solidFill>
                  <a:latin typeface="Calibri"/>
                  <a:ea typeface="Calibri"/>
                  <a:cs typeface="Calibri"/>
                  <a:sym typeface="Calibri"/>
                </a:rPr>
                <a:t>+55 (41) 3310-4545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tipo&#10;&#10;Descrição gerada automaticamente" id="317" name="Google Shape;317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02592" y="4956068"/>
              <a:ext cx="3058027" cy="148778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2024-06-25T13:28:00Z</dcterms:created>
  <dc:creator>Melrik</dc:creator>
</cp:coreProperties>
</file>